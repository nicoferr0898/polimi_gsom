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872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Arbitrage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2450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an LSTM-based Anomaly Detector on Bloomberg Macro Spread Data (2000–2021)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2962656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309067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33101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Meloncelli  ·  Nicoló Ferrari  ·  Luca Palumbo  ·  Antonio Fontanella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8770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Technologies for Finance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43251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43251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434840" y="43251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400800" y="432511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8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6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24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3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4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48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56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64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8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8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96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04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12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20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2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636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30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60520" y="1481328"/>
            <a:ext cx="22860" cy="493776"/>
          </a:xfrm>
          <a:prstGeom prst="rect">
            <a:avLst/>
          </a:prstGeom>
          <a:solidFill>
            <a:srgbClr val="2A5A8B"/>
          </a:solidFill>
          <a:ln w="12700">
            <a:solidFill>
              <a:srgbClr val="2A5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31920" y="1005840"/>
            <a:ext cx="475488" cy="47548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93192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0424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2801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Problem Statement · EWS Goal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2450592"/>
            <a:ext cx="22860" cy="493776"/>
          </a:xfrm>
          <a:prstGeom prst="rect">
            <a:avLst/>
          </a:prstGeom>
          <a:solidFill>
            <a:srgbClr val="2A5A8B"/>
          </a:solidFill>
          <a:ln w="12700">
            <a:solidFill>
              <a:srgbClr val="2A5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31920" y="1975104"/>
            <a:ext cx="475488" cy="47548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31920" y="1975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20116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1: Pair Selection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24942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Clustering · Cointegration Filters · 4 Pairs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60520" y="3419856"/>
            <a:ext cx="22860" cy="493776"/>
          </a:xfrm>
          <a:prstGeom prst="rect">
            <a:avLst/>
          </a:prstGeom>
          <a:solidFill>
            <a:srgbClr val="2A5A8B"/>
          </a:solidFill>
          <a:ln w="12700">
            <a:solidFill>
              <a:srgbClr val="2A5A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31920" y="2944368"/>
            <a:ext cx="475488" cy="47548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931920" y="2944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298094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2: Trading Models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32186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Baseline · LSTM Anomaly Detection · Tuning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931920" y="3913632"/>
            <a:ext cx="475488" cy="47548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931920" y="3913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39502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4187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· Key Takeaways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8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6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24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03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4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048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56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64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08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58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96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04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12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620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12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636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Introduction: Dataset &amp; Problem Statement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build an Early Warning System (EWS) that detects when a financial spread diverges anomalously from its historical norm — framed as novelty detection on weekly macro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1481328"/>
            <a:ext cx="39776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1481328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545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1 111 weekly observations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2000 – April 2021  (21 years)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231136"/>
            <a:ext cx="39776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231136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2295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Bloomberg features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25420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indices, equity, FX, rates, commodities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2980944"/>
            <a:ext cx="39776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2980944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0449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0  →  Risk-on (normal)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874 weeks  (79%)  —  standard market conditions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730752"/>
            <a:ext cx="3977640" cy="640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3730752"/>
            <a:ext cx="45720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1  →  Risk-off (crisis)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40416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weeks  (21%)  —  financial stress events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14813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Risk-off episodes over time  (Y=1 shaded)</a:t>
            </a:r>
            <a:endParaRPr lang="en-US" sz="900" dirty="0"/>
          </a:p>
        </p:txBody>
      </p:sp>
      <p:pic>
        <p:nvPicPr>
          <p:cNvPr id="31" name="Image 0" descr="/sessions/compassionate-focused-babbage/mnt/outputs/nb_images/Zenti_Pair_Selection_cell10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37360"/>
            <a:ext cx="4069080" cy="1234440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4663440" y="3063240"/>
            <a:ext cx="4069080" cy="130759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00600" y="314553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800600" y="3438144"/>
            <a:ext cx="3931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LSTM on Y=0 (normal) weeks to predict the next spread value. The anomaly score is the prediction error — large errors flag stress events.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 F1 on class Y=1.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9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misleading at ~21% prevalence.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212848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1: Pairs Space Definition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42 Bloomberg features there are ~861 possible pairs. Most share no economic rationale for cointegration. We use unsupervised clustering to restrict the search to economically related instruments.</a:t>
            </a:r>
            <a:endParaRPr lang="en-US" sz="11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098DE7-0672-028F-4DF3-6727010654BA}"/>
              </a:ext>
            </a:extLst>
          </p:cNvPr>
          <p:cNvGrpSpPr/>
          <p:nvPr/>
        </p:nvGrpSpPr>
        <p:grpSpPr>
          <a:xfrm>
            <a:off x="411480" y="1444752"/>
            <a:ext cx="3977640" cy="3246120"/>
            <a:chOff x="411480" y="1444752"/>
            <a:chExt cx="3977640" cy="2743200"/>
          </a:xfrm>
        </p:grpSpPr>
        <p:sp>
          <p:nvSpPr>
            <p:cNvPr id="14" name="Shape 12"/>
            <p:cNvSpPr/>
            <p:nvPr/>
          </p:nvSpPr>
          <p:spPr>
            <a:xfrm>
              <a:off x="411480" y="1444752"/>
              <a:ext cx="3977640" cy="8046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Shape 13"/>
            <p:cNvSpPr/>
            <p:nvPr/>
          </p:nvSpPr>
          <p:spPr>
            <a:xfrm>
              <a:off x="411480" y="1444752"/>
              <a:ext cx="45720" cy="8046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4"/>
            <p:cNvSpPr/>
            <p:nvPr/>
          </p:nvSpPr>
          <p:spPr>
            <a:xfrm>
              <a:off x="566928" y="1517904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Goal</a:t>
              </a:r>
              <a:endParaRPr lang="en-US" sz="11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66928" y="1773936"/>
              <a:ext cx="35661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Efficiently pre-segment the feature universe without limiting combinations or requiring exhaustive search.</a:t>
              </a:r>
              <a:endParaRPr lang="en-US" sz="95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11480" y="2414016"/>
              <a:ext cx="3977640" cy="8046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7"/>
            <p:cNvSpPr/>
            <p:nvPr/>
          </p:nvSpPr>
          <p:spPr>
            <a:xfrm>
              <a:off x="411480" y="2414016"/>
              <a:ext cx="45720" cy="8046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566928" y="2487168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</a:t>
              </a:r>
              <a:endParaRPr lang="en-US" sz="11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566928" y="2743200"/>
              <a:ext cx="35661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OPTICS (Ordering Points To Identify the Clustering Structure) on PCA-reduced weekly returns (10 components, 99.7% variance).</a:t>
              </a:r>
              <a:endParaRPr lang="en-US" sz="95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411480" y="3383280"/>
              <a:ext cx="3977640" cy="804672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411480" y="3383280"/>
              <a:ext cx="45720" cy="80467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566928" y="3456432"/>
              <a:ext cx="35661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Result</a:t>
              </a:r>
              <a:endParaRPr lang="en-US" sz="11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566928" y="3712464"/>
              <a:ext cx="356616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clusters (10 features total) · 32 noise features excluded · 20 candidate pairs to evaluate.</a:t>
              </a:r>
              <a:endParaRPr lang="en-US" sz="950" dirty="0"/>
            </a:p>
          </p:txBody>
        </p:sp>
      </p:grpSp>
      <p:sp>
        <p:nvSpPr>
          <p:cNvPr id="26" name="Text 24"/>
          <p:cNvSpPr/>
          <p:nvPr/>
        </p:nvSpPr>
        <p:spPr>
          <a:xfrm>
            <a:off x="4617720" y="142646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OPTICS cluster sizes</a:t>
            </a:r>
            <a:endParaRPr lang="en-US" sz="900" dirty="0"/>
          </a:p>
        </p:txBody>
      </p:sp>
      <p:pic>
        <p:nvPicPr>
          <p:cNvPr id="27" name="Image 0" descr="/sessions/compassionate-focused-babbage/mnt/outputs/nb_images/Zenti_Pair_Selection_cell24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64208"/>
            <a:ext cx="4114800" cy="133502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617720" y="307238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price series — Cluster 1  (5 features, 20 candidate pairs)</a:t>
            </a:r>
            <a:endParaRPr lang="en-US" sz="900" dirty="0"/>
          </a:p>
        </p:txBody>
      </p:sp>
      <p:pic>
        <p:nvPicPr>
          <p:cNvPr id="29" name="Image 1" descr="/sessions/compassionate-focused-babbage/mnt/outputs/nb_images/Zenti_Pair_Selection_cell2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310128"/>
            <a:ext cx="4114800" cy="1435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2212848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1: Pairs Selection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is accepted only if it passes all four statistical criteria applied in sequence. Failure at any step immediately discards the pair.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508760"/>
            <a:ext cx="384048" cy="38404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" y="1399032"/>
            <a:ext cx="3493008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" y="1463040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1691640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p-value &gt; 0.10 on each price level  →  both legs must be I(1) random walks.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2276856"/>
            <a:ext cx="384048" cy="38404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6112" y="2167128"/>
            <a:ext cx="3493008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7552" y="2231136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2459736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Engle-Granger OLS: spread must be stationary (ADF p &lt; 0.10) with positive β.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3044952"/>
            <a:ext cx="384048" cy="38404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96112" y="2935224"/>
            <a:ext cx="3493008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87552" y="299923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Hurst Exponent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87552" y="3227832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&lt; 0.55 on the spread  →  confirms mean-reverting behaviour.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3813048"/>
            <a:ext cx="384048" cy="384048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148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96112" y="3703320"/>
            <a:ext cx="3493008" cy="658368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87552" y="376732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Half-life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87552" y="3995928"/>
            <a:ext cx="3310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Ornstein-Uhlenbeck half-life between 2 and 156 weeks  →  practical mean reversion.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498848"/>
            <a:ext cx="397764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4498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pairs tested  →  15 rejected at cointegration · 1 at Hurst · 4 PASSED</a:t>
            </a:r>
            <a:endParaRPr lang="en-US" sz="9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9BBEAAF-B894-B1CD-1CC1-95D3C0744FA0}"/>
              </a:ext>
            </a:extLst>
          </p:cNvPr>
          <p:cNvGrpSpPr/>
          <p:nvPr/>
        </p:nvGrpSpPr>
        <p:grpSpPr>
          <a:xfrm>
            <a:off x="4617720" y="1380744"/>
            <a:ext cx="4114800" cy="1965960"/>
            <a:chOff x="4617720" y="1380744"/>
            <a:chExt cx="4114800" cy="2468880"/>
          </a:xfrm>
        </p:grpSpPr>
        <p:sp>
          <p:nvSpPr>
            <p:cNvPr id="36" name="Text 34"/>
            <p:cNvSpPr/>
            <p:nvPr/>
          </p:nvSpPr>
          <p:spPr>
            <a:xfrm>
              <a:off x="4617720" y="1380744"/>
              <a:ext cx="41148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Cointegration spreads (z-scored)  —  green=long · red=short · pink=risk-off</a:t>
              </a:r>
              <a:endParaRPr lang="en-US" sz="850" dirty="0"/>
            </a:p>
          </p:txBody>
        </p:sp>
        <p:pic>
          <p:nvPicPr>
            <p:cNvPr id="37" name="Image 0" descr="/sessions/compassionate-focused-babbage/mnt/outputs/nb_images/Zenti_Pair_Selection_cell38_out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7720" y="1618488"/>
              <a:ext cx="4114800" cy="1088136"/>
            </a:xfrm>
            <a:prstGeom prst="rect">
              <a:avLst/>
            </a:prstGeom>
          </p:spPr>
        </p:pic>
        <p:pic>
          <p:nvPicPr>
            <p:cNvPr id="38" name="Image 1" descr="/sessions/compassionate-focused-babbage/mnt/outputs/nb_images/Zenti_Pair_Selection_cell38_out2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17720" y="2761488"/>
              <a:ext cx="4114800" cy="1088136"/>
            </a:xfrm>
            <a:prstGeom prst="rect">
              <a:avLst/>
            </a:prstGeom>
          </p:spPr>
        </p:pic>
      </p:grpSp>
      <p:sp>
        <p:nvSpPr>
          <p:cNvPr id="39" name="Text 35"/>
          <p:cNvSpPr/>
          <p:nvPr/>
        </p:nvSpPr>
        <p:spPr>
          <a:xfrm>
            <a:off x="4617720" y="34290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Selected Pairs</a:t>
            </a:r>
            <a:endParaRPr lang="en-US" sz="1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244515"/>
              </p:ext>
            </p:extLst>
          </p:nvPr>
        </p:nvGraphicFramePr>
        <p:xfrm>
          <a:off x="4617720" y="3675888"/>
          <a:ext cx="4114800" cy="1143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16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Half-life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Hurst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LG30TRUU / LP01TREU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6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LP01TREU / MXEU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EMUSTRUU / LMBITR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16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LMBITR / LUACTRUU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wk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425696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2: Threshold Baseline Model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threshold strategy is used as baseline. It provides a simple, interpretable benchmark against which the LSTM model is evaluated.</a:t>
            </a:r>
            <a:endParaRPr lang="en-US" sz="1100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6B9F745-1672-4C22-9A73-359BE49EC350}"/>
              </a:ext>
            </a:extLst>
          </p:cNvPr>
          <p:cNvGrpSpPr/>
          <p:nvPr/>
        </p:nvGrpSpPr>
        <p:grpSpPr>
          <a:xfrm>
            <a:off x="411480" y="1389888"/>
            <a:ext cx="3977640" cy="3035808"/>
            <a:chOff x="411480" y="1389888"/>
            <a:chExt cx="3977640" cy="2816352"/>
          </a:xfrm>
        </p:grpSpPr>
        <p:sp>
          <p:nvSpPr>
            <p:cNvPr id="14" name="Shape 12"/>
            <p:cNvSpPr/>
            <p:nvPr/>
          </p:nvSpPr>
          <p:spPr>
            <a:xfrm>
              <a:off x="411480" y="1389888"/>
              <a:ext cx="3977640" cy="192024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3"/>
            <p:cNvSpPr/>
            <p:nvPr/>
          </p:nvSpPr>
          <p:spPr>
            <a:xfrm>
              <a:off x="530352" y="1463040"/>
              <a:ext cx="37490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1A3A6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Signal Logic</a:t>
              </a:r>
              <a:endParaRPr lang="en-US" sz="12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530352" y="1783080"/>
              <a:ext cx="37490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Compute z-score using train mean/std only (no leakage)</a:t>
              </a:r>
              <a:endParaRPr lang="en-US" sz="95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530352" y="2048256"/>
              <a:ext cx="37490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LONG   when z &lt; −2σ   (spread below historical norm)</a:t>
              </a:r>
              <a:endParaRPr lang="en-US" sz="9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530352" y="2313432"/>
              <a:ext cx="37490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SHORT  when z &gt; +2σ   (spread above historical norm)</a:t>
              </a:r>
              <a:endParaRPr lang="en-US" sz="95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530352" y="2578608"/>
              <a:ext cx="37490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Exit when z crosses 0  (mean reversion complete)</a:t>
              </a:r>
              <a:endParaRPr lang="en-US" sz="95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30352" y="2843784"/>
              <a:ext cx="374904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1-week execution delay  ·  5-bar stabilising period</a:t>
              </a:r>
              <a:endParaRPr lang="en-US" sz="95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411480" y="3401568"/>
              <a:ext cx="3977640" cy="804672"/>
            </a:xfrm>
            <a:prstGeom prst="rect">
              <a:avLst/>
            </a:prstGeom>
            <a:solidFill>
              <a:srgbClr val="0C3061"/>
            </a:solidFill>
            <a:ln w="12700">
              <a:solidFill>
                <a:srgbClr val="0C306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0"/>
            <p:cNvSpPr/>
            <p:nvPr/>
          </p:nvSpPr>
          <p:spPr>
            <a:xfrm>
              <a:off x="530352" y="3474720"/>
              <a:ext cx="37490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Split</a:t>
              </a:r>
              <a:endParaRPr lang="en-US" sz="10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530352" y="3749040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C9DD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  Jan 2000 – Dec 2019  (~1040 wks)  ← StandardScaler fit here</a:t>
              </a:r>
              <a:endParaRPr lang="en-US" sz="9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530352" y="3959352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C9DD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Test    Jan 2020 – Apr 2021  (~70 wks)   ← COVID stress period</a:t>
              </a:r>
              <a:endParaRPr lang="en-US" sz="9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4617720" y="13898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equity curves — Train (Jan 2000 – Dec 2019)</a:t>
            </a:r>
            <a:endParaRPr lang="en-US" sz="900" dirty="0"/>
          </a:p>
        </p:txBody>
      </p:sp>
      <p:pic>
        <p:nvPicPr>
          <p:cNvPr id="26" name="Image 0" descr="/sessions/compassionate-focused-babbage/mnt/outputs/nb_images/Zenti_Threshold_Model_cell28_out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627632"/>
            <a:ext cx="4114800" cy="124358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617720" y="294436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equity curves — Test (Jan 2020 – Apr 2021 · COVID)</a:t>
            </a:r>
            <a:endParaRPr lang="en-US" sz="900" dirty="0"/>
          </a:p>
        </p:txBody>
      </p:sp>
      <p:pic>
        <p:nvPicPr>
          <p:cNvPr id="28" name="Image 1" descr="/sessions/compassionate-focused-babbage/mnt/outputs/nb_images/Zenti_Threshold_Model_cell28_ou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182112"/>
            <a:ext cx="4114800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425696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2: Threshold Model — Performance Evaluation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692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Per-pair results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8321040" cy="1463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ROI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LG30TRUU / LP01TREU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+17.77%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LP01TREU / MXEU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+197.38%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EMUSTRUU / LMBITR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+96.26%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LMBITR / LUACTRUU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+77.2%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+1.37%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11480" y="28346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11480" y="2834640"/>
            <a:ext cx="50292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1208" y="2880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Portfolio Sharpe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21208" y="30815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0.950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2450592" y="28346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450592" y="2834640"/>
            <a:ext cx="50292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560320" y="2880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Portfolio Sharpe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2560320" y="30815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0.930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4489704" y="28346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489704" y="2834640"/>
            <a:ext cx="50292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599432" y="2880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Test ROI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599432" y="30815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+1.37%</a:t>
            </a:r>
            <a:endParaRPr lang="en-US" sz="1700" dirty="0"/>
          </a:p>
        </p:txBody>
      </p:sp>
      <p:sp>
        <p:nvSpPr>
          <p:cNvPr id="27" name="Shape 24"/>
          <p:cNvSpPr/>
          <p:nvPr/>
        </p:nvSpPr>
        <p:spPr>
          <a:xfrm>
            <a:off x="6528816" y="28346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528816" y="2834640"/>
            <a:ext cx="50292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638544" y="2880360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Trades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638544" y="3081528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(2W/0L)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411480" y="3730752"/>
            <a:ext cx="8321040" cy="109728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11480" y="3730752"/>
            <a:ext cx="45720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66928" y="38039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566928" y="4059936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model is robust across training but nearly inactive during the COVID test window. The ±2σ threshold is calibrated on training variance; COVID drives spreads far beyond 2σ, generating only 2 trades. LMBITR/LUACTRUU is the sole active pair. Test performance is stable but modest (+1.37% ROI).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425696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2: LSTM Anomaly Detection Model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is trained exclusively on Y=0 (risk-on) weeks. It learns what 'normal' spread dynamics look like. Large prediction errors signal anomalous market behaviour.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26464"/>
            <a:ext cx="1417320" cy="640080"/>
          </a:xfrm>
          <a:prstGeom prst="rect">
            <a:avLst/>
          </a:prstGeom>
          <a:solidFill>
            <a:srgbClr val="CCEFE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1426464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spread[t−W:t]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700784" y="16276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01952" y="1426464"/>
            <a:ext cx="1417320" cy="64008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01952" y="1426464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(hidden units)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28416" y="162763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9584" y="1426464"/>
            <a:ext cx="1417320" cy="640080"/>
          </a:xfrm>
          <a:prstGeom prst="rect">
            <a:avLst/>
          </a:prstGeom>
          <a:solidFill>
            <a:srgbClr val="3A6FA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9584" y="1426464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 = 0.2)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56048" y="16322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57216" y="1426464"/>
            <a:ext cx="1417320" cy="640080"/>
          </a:xfrm>
          <a:prstGeom prst="rect">
            <a:avLst/>
          </a:prstGeom>
          <a:solidFill>
            <a:srgbClr val="1A3A6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57216" y="1426464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spread[t+1]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74536" y="163423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84848" y="1426464"/>
            <a:ext cx="1417320" cy="640080"/>
          </a:xfrm>
          <a:prstGeom prst="rect">
            <a:avLst/>
          </a:prstGeom>
          <a:solidFill>
            <a:srgbClr val="0D948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84848" y="1426464"/>
            <a:ext cx="14173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|actual−pred|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212848"/>
            <a:ext cx="3657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22128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normal only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1480" y="24505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crises during training — the LSTM defines 'normal'.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871216"/>
            <a:ext cx="3657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87121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= prediction error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11480" y="31089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|actual−pred| ↔ the spread is doing something unexpected.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529584"/>
            <a:ext cx="3657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352958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entry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11480" y="37673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&lt; pred → LONG (spread below expectation, mean-revert up).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&gt; pred → SHORT (spread above expectation, mean-revert down).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187952"/>
            <a:ext cx="36576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11480" y="418795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CV-tuned threshold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11480" y="44256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held while score &gt; threshold. Threshold never set using test data.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36592" y="2194560"/>
            <a:ext cx="4087368" cy="2578608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64608" y="2286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Formula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64608" y="25968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anomaly_score(t) =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64608" y="27980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spread_actual(t) − spread_predicted(t) |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64608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64608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 = 1   if   score(t) &gt; threshold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64608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64608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64608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 &lt; predicted  →  LONG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64608" y="40050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actual &gt; predicted  →  SHORT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64608" y="42062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64608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 when score drops below threshold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425696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2: LSTM Model — Performance Evaluation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692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equity curves — Train (Jan 2000 – Dec 2019)</a:t>
            </a:r>
            <a:endParaRPr lang="en-US" sz="9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18E083-5E55-37C8-5417-71F17EF16F7D}"/>
              </a:ext>
            </a:extLst>
          </p:cNvPr>
          <p:cNvGrpSpPr/>
          <p:nvPr/>
        </p:nvGrpSpPr>
        <p:grpSpPr>
          <a:xfrm>
            <a:off x="411480" y="1207008"/>
            <a:ext cx="4206240" cy="3346704"/>
            <a:chOff x="411480" y="1207008"/>
            <a:chExt cx="4206240" cy="2852928"/>
          </a:xfrm>
        </p:grpSpPr>
        <p:pic>
          <p:nvPicPr>
            <p:cNvPr id="14" name="Image 0" descr="/sessions/compassionate-focused-babbage/mnt/outputs/nb_images/Zenti_LSTM_Model_cell29_out0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1480" y="1207008"/>
              <a:ext cx="4206240" cy="1271016"/>
            </a:xfrm>
            <a:prstGeom prst="rect">
              <a:avLst/>
            </a:prstGeom>
          </p:spPr>
        </p:pic>
        <p:sp>
          <p:nvSpPr>
            <p:cNvPr id="15" name="Text 12"/>
            <p:cNvSpPr/>
            <p:nvPr/>
          </p:nvSpPr>
          <p:spPr>
            <a:xfrm>
              <a:off x="411480" y="2551176"/>
              <a:ext cx="420624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Portfolio equity curves — Test (Jan 2020 – Apr 2021 · COVID)</a:t>
              </a:r>
              <a:endParaRPr lang="en-US" sz="900" dirty="0"/>
            </a:p>
          </p:txBody>
        </p:sp>
        <p:pic>
          <p:nvPicPr>
            <p:cNvPr id="16" name="Image 1" descr="/sessions/compassionate-focused-babbage/mnt/outputs/nb_images/Zenti_LSTM_Model_cell29_out1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" y="2788920"/>
              <a:ext cx="4206240" cy="1271016"/>
            </a:xfrm>
            <a:prstGeom prst="rect">
              <a:avLst/>
            </a:prstGeom>
          </p:spPr>
        </p:pic>
      </p:grpSp>
      <p:sp>
        <p:nvSpPr>
          <p:cNvPr id="17" name="Text 13"/>
          <p:cNvSpPr/>
          <p:nvPr/>
        </p:nvSpPr>
        <p:spPr>
          <a:xfrm>
            <a:off x="4800600" y="969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signal — LP01TREU / MXEU  (star pair, Sharpe=4.01)</a:t>
            </a:r>
            <a:endParaRPr lang="en-US" sz="900" dirty="0"/>
          </a:p>
        </p:txBody>
      </p:sp>
      <p:pic>
        <p:nvPicPr>
          <p:cNvPr id="18" name="Image 2" descr="/sessions/compassionate-focused-babbage/mnt/outputs/nb_images/Zenti_LSTM_Model_cell27_out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07008"/>
            <a:ext cx="4023360" cy="1591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00600" y="287121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 (Jan 2020 – Apr 2021)</a:t>
            </a:r>
            <a:endParaRPr lang="en-US" sz="11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AFA2B33-B717-1CE2-BEDE-2B9375E7814E}"/>
              </a:ext>
            </a:extLst>
          </p:cNvPr>
          <p:cNvGrpSpPr/>
          <p:nvPr/>
        </p:nvGrpSpPr>
        <p:grpSpPr>
          <a:xfrm>
            <a:off x="4800600" y="3163824"/>
            <a:ext cx="4023360" cy="1389888"/>
            <a:chOff x="4800600" y="3127248"/>
            <a:chExt cx="3986784" cy="1499616"/>
          </a:xfrm>
        </p:grpSpPr>
        <p:sp>
          <p:nvSpPr>
            <p:cNvPr id="20" name="Shape 15"/>
            <p:cNvSpPr/>
            <p:nvPr/>
          </p:nvSpPr>
          <p:spPr>
            <a:xfrm>
              <a:off x="4800600" y="3127248"/>
              <a:ext cx="1901952" cy="694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Shape 16"/>
            <p:cNvSpPr/>
            <p:nvPr/>
          </p:nvSpPr>
          <p:spPr>
            <a:xfrm>
              <a:off x="4800600" y="3127248"/>
              <a:ext cx="50292" cy="694944"/>
            </a:xfrm>
            <a:prstGeom prst="rect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" name="Text 17"/>
            <p:cNvSpPr/>
            <p:nvPr/>
          </p:nvSpPr>
          <p:spPr>
            <a:xfrm>
              <a:off x="4910328" y="3172968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Portfolio Sharpe</a:t>
              </a:r>
              <a:endParaRPr lang="en-US" sz="850" dirty="0"/>
            </a:p>
          </p:txBody>
        </p:sp>
        <p:sp>
          <p:nvSpPr>
            <p:cNvPr id="23" name="Text 18"/>
            <p:cNvSpPr/>
            <p:nvPr/>
          </p:nvSpPr>
          <p:spPr>
            <a:xfrm>
              <a:off x="4910328" y="3374136"/>
              <a:ext cx="17373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2.596</a:t>
              </a:r>
              <a:endParaRPr lang="en-US" sz="1700" dirty="0"/>
            </a:p>
          </p:txBody>
        </p:sp>
        <p:sp>
          <p:nvSpPr>
            <p:cNvPr id="24" name="Shape 19"/>
            <p:cNvSpPr/>
            <p:nvPr/>
          </p:nvSpPr>
          <p:spPr>
            <a:xfrm>
              <a:off x="6885432" y="3127248"/>
              <a:ext cx="1901952" cy="69494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50800" dist="25400" dir="81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0"/>
            <p:cNvSpPr/>
            <p:nvPr/>
          </p:nvSpPr>
          <p:spPr>
            <a:xfrm>
              <a:off x="6885432" y="3127248"/>
              <a:ext cx="50292" cy="694944"/>
            </a:xfrm>
            <a:prstGeom prst="rect">
              <a:avLst/>
            </a:prstGeom>
            <a:solidFill>
              <a:srgbClr val="2E7D32"/>
            </a:solidFill>
            <a:ln w="1270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/>
            <p:cNvSpPr/>
            <p:nvPr/>
          </p:nvSpPr>
          <p:spPr>
            <a:xfrm>
              <a:off x="6995160" y="3172968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ROI</a:t>
              </a:r>
              <a:endParaRPr lang="en-US" sz="850" dirty="0"/>
            </a:p>
          </p:txBody>
        </p:sp>
        <p:sp>
          <p:nvSpPr>
            <p:cNvPr id="27" name="Text 22"/>
            <p:cNvSpPr/>
            <p:nvPr/>
          </p:nvSpPr>
          <p:spPr>
            <a:xfrm>
              <a:off x="6995160" y="3374136"/>
              <a:ext cx="17373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+10.23%</a:t>
              </a:r>
              <a:endParaRPr lang="en-US" sz="1700" dirty="0"/>
            </a:p>
          </p:txBody>
        </p:sp>
        <p:sp>
          <p:nvSpPr>
            <p:cNvPr id="29" name="Shape 24"/>
            <p:cNvSpPr/>
            <p:nvPr/>
          </p:nvSpPr>
          <p:spPr>
            <a:xfrm>
              <a:off x="4800600" y="3931920"/>
              <a:ext cx="50292" cy="694944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5"/>
            <p:cNvSpPr/>
            <p:nvPr/>
          </p:nvSpPr>
          <p:spPr>
            <a:xfrm>
              <a:off x="4910328" y="397764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Annual ROI</a:t>
              </a:r>
              <a:endParaRPr lang="en-US" sz="850" dirty="0"/>
            </a:p>
          </p:txBody>
        </p:sp>
        <p:sp>
          <p:nvSpPr>
            <p:cNvPr id="31" name="Text 26"/>
            <p:cNvSpPr/>
            <p:nvPr/>
          </p:nvSpPr>
          <p:spPr>
            <a:xfrm>
              <a:off x="4910328" y="4178808"/>
              <a:ext cx="17373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+7.60%</a:t>
              </a:r>
              <a:endParaRPr lang="en-US" sz="1700" dirty="0"/>
            </a:p>
          </p:txBody>
        </p:sp>
        <p:sp>
          <p:nvSpPr>
            <p:cNvPr id="33" name="Shape 28"/>
            <p:cNvSpPr/>
            <p:nvPr/>
          </p:nvSpPr>
          <p:spPr>
            <a:xfrm>
              <a:off x="6885432" y="3931920"/>
              <a:ext cx="50292" cy="694944"/>
            </a:xfrm>
            <a:prstGeom prst="rect">
              <a:avLst/>
            </a:prstGeom>
            <a:solidFill>
              <a:srgbClr val="6B7280"/>
            </a:solidFill>
            <a:ln w="12700">
              <a:solidFill>
                <a:srgbClr val="6B728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29"/>
            <p:cNvSpPr/>
            <p:nvPr/>
          </p:nvSpPr>
          <p:spPr>
            <a:xfrm>
              <a:off x="6995160" y="3977640"/>
              <a:ext cx="17373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850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Trades</a:t>
              </a:r>
              <a:endParaRPr lang="en-US" sz="850" dirty="0"/>
            </a:p>
          </p:txBody>
        </p:sp>
        <p:sp>
          <p:nvSpPr>
            <p:cNvPr id="35" name="Text 30"/>
            <p:cNvSpPr/>
            <p:nvPr/>
          </p:nvSpPr>
          <p:spPr>
            <a:xfrm>
              <a:off x="6995160" y="4178808"/>
              <a:ext cx="1737360" cy="3749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14 (9W/5L)</a:t>
              </a:r>
              <a:endParaRPr lang="en-US" sz="1700" dirty="0"/>
            </a:p>
          </p:txBody>
        </p:sp>
      </p:grpSp>
      <p:sp>
        <p:nvSpPr>
          <p:cNvPr id="36" name="Shape 31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LP01TREU/MXEU — COVID crash caught cleanly:  Sharpe=4.01  ·  ROI=+40.38%  in ~70 weeks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638544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 Model Comparison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experiments with different train/test splits allow understanding of the LSTM's regime-specific behaviour.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316736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 Train 2000–2017  ·  Test 2018–2021  (3.3 yr — COVID embedded in long window)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1536192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 Train 2000–2019  ·  Test 2020–2021  (COVID as dedicated test window)  ★</a:t>
            </a:r>
            <a:endParaRPr lang="en-US" sz="9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10512"/>
          <a:ext cx="8321040" cy="242925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Exp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Exp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Exp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Exp 2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Sharpe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Annual ROI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−4.72%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vs 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(Sharpe delta)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+1.666 ↑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411480" y="4279392"/>
            <a:ext cx="832104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4279392"/>
            <a:ext cx="457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6928" y="43525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719072" y="4334256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LSTM's edge is regime-specific. In Exp 2, with COVID as the entire test window, the anomaly score spikes sharply on the March 2020 crash and markets recover: Sharpe=2.596, ROI=+10.2%. In Exp 1, where COVID is diluted over 3.3 years, the model loses money (Sh=−0.195).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249424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462272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STAGE 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638544" y="0"/>
            <a:ext cx="22128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0" y="0"/>
            <a:ext cx="2139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11480" y="886968"/>
            <a:ext cx="832104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4983480"/>
            <a:ext cx="64008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686800" y="4983480"/>
            <a:ext cx="3657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11480" y="1005840"/>
            <a:ext cx="406908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005840"/>
            <a:ext cx="4572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1208" y="1097280"/>
            <a:ext cx="402336" cy="402336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" y="1499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model is robust but inert under COVID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18105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±2σ threshold is calibrated on training variance. COVID drives spreads far beyond 2σ, generating only 2 trades across both experiments. Performance is stable but nearly identical (+1.22% vs +1.37%).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005840"/>
            <a:ext cx="406908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4572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73168" y="1097280"/>
            <a:ext cx="402336" cy="402336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73168" y="1097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91456" y="1499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is purpose-built for regime breaks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91456" y="181051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entire test window is the COVID shock (Exp 2), the anomaly detector spikes, positions are entered, and markets recover: Portfolio Sharpe=2.596, Avg ROI=+10.23%. The model's edge is context-dependent.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2907792"/>
            <a:ext cx="406908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1480" y="2907792"/>
            <a:ext cx="4572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1208" y="2999232"/>
            <a:ext cx="402336" cy="402336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LP01TREU / MXEU is the key driver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" y="371246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IG bonds vs MSCI Europe equities compressed severely in the COVID crash and rebounded fast. The LSTM caught this cleanly: ROI=+40.4%, Sharpe=4.01 in ~70 weeks.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07792"/>
            <a:ext cx="4069080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2907792"/>
            <a:ext cx="4572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73168" y="2999232"/>
            <a:ext cx="402336" cy="402336"/>
          </a:xfrm>
          <a:prstGeom prst="lin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7316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791456" y="3401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Sharpe does not predict test Sharpe for the LSTM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91456" y="3712464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train Sharpe (0.847) &gt; Exp 2 (0.563), yet test results reverse completely (−0.195 vs +2.596). The model's advantage emerges only when the test contains a genuine out-of-distribution event.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30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14630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attention!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3493008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371600" y="36393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GSoM Hackathon  ·  Statistical Arbitrage EWS  ·  Zenti Bloomberg Dataset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8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16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24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3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4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48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56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64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80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8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96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04000" y="4800600"/>
            <a:ext cx="508000" cy="342900"/>
          </a:xfrm>
          <a:prstGeom prst="rect">
            <a:avLst/>
          </a:prstGeom>
          <a:solidFill>
            <a:srgbClr val="1A6BA0"/>
          </a:solidFill>
          <a:ln w="12700">
            <a:solidFill>
              <a:srgbClr val="1A6B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12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20000" y="4800600"/>
            <a:ext cx="508000" cy="342900"/>
          </a:xfrm>
          <a:prstGeom prst="rect">
            <a:avLst/>
          </a:prstGeom>
          <a:solidFill>
            <a:srgbClr val="0C3061"/>
          </a:solidFill>
          <a:ln w="12700">
            <a:solidFill>
              <a:srgbClr val="0C30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28000" y="4800600"/>
            <a:ext cx="508000" cy="3429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36000" y="4800600"/>
            <a:ext cx="508000" cy="3429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1751</Words>
  <Application>Microsoft Macintosh PowerPoint</Application>
  <PresentationFormat>On-screen Show (16:9)</PresentationFormat>
  <Paragraphs>319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Arbitrage EWS — GSoM Hackathon</dc:title>
  <dc:subject>PptxGenJS Presentation</dc:subject>
  <dc:creator>PptxGenJS</dc:creator>
  <cp:lastModifiedBy>Nicoló Ferrari</cp:lastModifiedBy>
  <cp:revision>2</cp:revision>
  <dcterms:created xsi:type="dcterms:W3CDTF">2026-05-19T15:37:23Z</dcterms:created>
  <dcterms:modified xsi:type="dcterms:W3CDTF">2026-05-19T15:52:56Z</dcterms:modified>
</cp:coreProperties>
</file>